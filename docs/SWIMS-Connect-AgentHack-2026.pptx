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793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itllkBOpSIo+foDNAV8ppHfAkj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3514CA-5337-4821-8FA7-13685EB0E8FF}">
  <a:tblStyle styleId="{983514CA-5337-4821-8FA7-13685EB0E8F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bg>
      <p:bgPr>
        <a:solidFill>
          <a:srgbClr val="0BA2B3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89770" y="5461000"/>
            <a:ext cx="1524000" cy="12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9"/>
          <p:cNvSpPr/>
          <p:nvPr/>
        </p:nvSpPr>
        <p:spPr>
          <a:xfrm>
            <a:off x="3554946" y="4955133"/>
            <a:ext cx="2120057" cy="1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3" name="Google Shape;13;p9"/>
          <p:cNvSpPr txBox="1"/>
          <p:nvPr>
            <p:ph idx="1" type="body"/>
          </p:nvPr>
        </p:nvSpPr>
        <p:spPr>
          <a:xfrm>
            <a:off x="640800" y="5886454"/>
            <a:ext cx="8280000" cy="451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9"/>
          <p:cNvSpPr txBox="1"/>
          <p:nvPr>
            <p:ph type="title"/>
          </p:nvPr>
        </p:nvSpPr>
        <p:spPr>
          <a:xfrm>
            <a:off x="640800" y="4843803"/>
            <a:ext cx="8280000" cy="1037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pic>
        <p:nvPicPr>
          <p:cNvPr id="16" name="Google Shape;1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16196" y="435122"/>
            <a:ext cx="1116970" cy="363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logo">
  <p:cSld name="Slide with logo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10"/>
          <p:cNvSpPr/>
          <p:nvPr/>
        </p:nvSpPr>
        <p:spPr>
          <a:xfrm>
            <a:off x="10297948" y="1240221"/>
            <a:ext cx="1481958" cy="6726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31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B4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29023" y="362581"/>
            <a:ext cx="1150883" cy="430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Contents">
  <p:cSld name="Title and 2 Conten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9650" y="0"/>
            <a:ext cx="6089650" cy="2087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92400"/>
            <a:ext cx="4178300" cy="416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1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1"/>
          <p:cNvSpPr txBox="1"/>
          <p:nvPr>
            <p:ph idx="1" type="body"/>
          </p:nvPr>
        </p:nvSpPr>
        <p:spPr>
          <a:xfrm>
            <a:off x="36000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1"/>
          <p:cNvSpPr txBox="1"/>
          <p:nvPr>
            <p:ph idx="2" type="body"/>
          </p:nvPr>
        </p:nvSpPr>
        <p:spPr>
          <a:xfrm>
            <a:off x="36000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1"/>
          <p:cNvSpPr txBox="1"/>
          <p:nvPr>
            <p:ph idx="3" type="body"/>
          </p:nvPr>
        </p:nvSpPr>
        <p:spPr>
          <a:xfrm>
            <a:off x="608965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1"/>
          <p:cNvSpPr txBox="1"/>
          <p:nvPr>
            <p:ph idx="4" type="body"/>
          </p:nvPr>
        </p:nvSpPr>
        <p:spPr>
          <a:xfrm>
            <a:off x="608965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11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" name="Google Shape;3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7661" y="404660"/>
            <a:ext cx="1063903" cy="346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 showMasterSp="0">
  <p:cSld name="Custom Layou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/>
          <p:nvPr>
            <p:ph type="title"/>
          </p:nvPr>
        </p:nvSpPr>
        <p:spPr>
          <a:xfrm>
            <a:off x="635128" y="4640687"/>
            <a:ext cx="9000000" cy="45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6"/>
            <a:ext cx="833598" cy="41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2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36" name="Google Shape;3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348" y="393566"/>
            <a:ext cx="6557643" cy="355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9023" y="362581"/>
            <a:ext cx="1150883" cy="430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accen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97670" y="5461000"/>
            <a:ext cx="1816100" cy="12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529" y="190499"/>
            <a:ext cx="1816100" cy="12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3"/>
          <p:cNvSpPr/>
          <p:nvPr/>
        </p:nvSpPr>
        <p:spPr>
          <a:xfrm>
            <a:off x="3554946" y="4955133"/>
            <a:ext cx="2120057" cy="1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42" name="Google Shape;42;p13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3"/>
          <p:cNvSpPr txBox="1"/>
          <p:nvPr>
            <p:ph idx="1" type="body"/>
          </p:nvPr>
        </p:nvSpPr>
        <p:spPr>
          <a:xfrm>
            <a:off x="640800" y="5850000"/>
            <a:ext cx="3818481" cy="63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A322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2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13"/>
          <p:cNvSpPr txBox="1"/>
          <p:nvPr>
            <p:ph idx="2" type="body"/>
          </p:nvPr>
        </p:nvSpPr>
        <p:spPr>
          <a:xfrm>
            <a:off x="640800" y="4574120"/>
            <a:ext cx="8822225" cy="914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13"/>
          <p:cNvSpPr txBox="1"/>
          <p:nvPr>
            <p:ph idx="3" type="subTitle"/>
          </p:nvPr>
        </p:nvSpPr>
        <p:spPr>
          <a:xfrm>
            <a:off x="644227" y="2845823"/>
            <a:ext cx="8820000" cy="151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1666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6" name="Google Shape;4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21449" y="507429"/>
            <a:ext cx="1496116" cy="748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14"/>
          <p:cNvSpPr txBox="1"/>
          <p:nvPr>
            <p:ph idx="1" type="body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4"/>
          <p:cNvSpPr txBox="1"/>
          <p:nvPr>
            <p:ph idx="2" type="body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Dark" showMasterSp="0">
  <p:cSld name="Title and Content Dark">
    <p:bg>
      <p:bgPr>
        <a:solidFill>
          <a:schemeClr val="accent2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15"/>
          <p:cNvSpPr txBox="1"/>
          <p:nvPr>
            <p:ph idx="1" type="body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b="1" i="0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15"/>
          <p:cNvSpPr txBox="1"/>
          <p:nvPr>
            <p:ph idx="2" type="body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5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Teal" showMasterSp="0">
  <p:cSld name="1_Title and Content Teal">
    <p:bg>
      <p:bgPr>
        <a:solidFill>
          <a:schemeClr val="accent4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b="1" i="0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6"/>
          <p:cNvSpPr txBox="1"/>
          <p:nvPr>
            <p:ph idx="2" type="body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6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only">
  <p:cSld name="Headline 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only Dark" showMasterSp="0">
  <p:cSld name="Headline only Dark">
    <p:bg>
      <p:bgPr>
        <a:solidFill>
          <a:schemeClr val="accent2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18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Headline only Teal" showMasterSp="0">
  <p:cSld name="1_Headline only Teal">
    <p:bg>
      <p:bgPr>
        <a:solidFill>
          <a:schemeClr val="accent4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19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>
  <p:cSld name="Comparison">
    <p:bg>
      <p:bgPr>
        <a:solidFill>
          <a:schemeClr val="accent3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756788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20"/>
          <p:cNvSpPr txBox="1"/>
          <p:nvPr>
            <p:ph type="title"/>
          </p:nvPr>
        </p:nvSpPr>
        <p:spPr>
          <a:xfrm>
            <a:off x="359999" y="1674394"/>
            <a:ext cx="504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" type="body"/>
          </p:nvPr>
        </p:nvSpPr>
        <p:spPr>
          <a:xfrm>
            <a:off x="6480000" y="1674393"/>
            <a:ext cx="504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20"/>
          <p:cNvSpPr txBox="1"/>
          <p:nvPr>
            <p:ph idx="2" type="body"/>
          </p:nvPr>
        </p:nvSpPr>
        <p:spPr>
          <a:xfrm>
            <a:off x="6480000" y="2834245"/>
            <a:ext cx="50400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68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20"/>
          <p:cNvSpPr txBox="1"/>
          <p:nvPr>
            <p:ph idx="3" type="body"/>
          </p:nvPr>
        </p:nvSpPr>
        <p:spPr>
          <a:xfrm>
            <a:off x="360000" y="2834245"/>
            <a:ext cx="50400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20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Slide" showMasterSp="0">
  <p:cSld name="Quote Slide">
    <p:bg>
      <p:bgPr>
        <a:solidFill>
          <a:schemeClr val="accent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/>
          <p:nvPr/>
        </p:nvSpPr>
        <p:spPr>
          <a:xfrm>
            <a:off x="3554946" y="4955133"/>
            <a:ext cx="2120057" cy="1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90" name="Google Shape;90;p21"/>
          <p:cNvSpPr txBox="1"/>
          <p:nvPr/>
        </p:nvSpPr>
        <p:spPr>
          <a:xfrm>
            <a:off x="1343734" y="2179914"/>
            <a:ext cx="239177" cy="327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1" name="Google Shape;91;p21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1"/>
          <p:cNvSpPr/>
          <p:nvPr/>
        </p:nvSpPr>
        <p:spPr>
          <a:xfrm flipH="1" rot="10800000">
            <a:off x="9366432" y="5569929"/>
            <a:ext cx="505472" cy="505473"/>
          </a:xfrm>
          <a:prstGeom prst="rect">
            <a:avLst/>
          </a:prstGeom>
          <a:solidFill>
            <a:srgbClr val="0BA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1"/>
          <p:cNvSpPr txBox="1"/>
          <p:nvPr>
            <p:ph type="title"/>
          </p:nvPr>
        </p:nvSpPr>
        <p:spPr>
          <a:xfrm>
            <a:off x="1591200" y="2187168"/>
            <a:ext cx="8405525" cy="1977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  <a:defRPr sz="3800"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" type="body"/>
          </p:nvPr>
        </p:nvSpPr>
        <p:spPr>
          <a:xfrm>
            <a:off x="1591200" y="4421963"/>
            <a:ext cx="7025229" cy="8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95" name="Google Shape;95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74886" y="5067046"/>
            <a:ext cx="2006600" cy="10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hoto">
  <p:cSld name="Content with photo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/>
          <p:nvPr>
            <p:ph idx="2" type="pic"/>
          </p:nvPr>
        </p:nvSpPr>
        <p:spPr>
          <a:xfrm>
            <a:off x="7937500" y="1447601"/>
            <a:ext cx="4241800" cy="5410399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22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0" name="Google Shape;100;p22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22"/>
          <p:cNvSpPr txBox="1"/>
          <p:nvPr>
            <p:ph idx="1" type="body"/>
          </p:nvPr>
        </p:nvSpPr>
        <p:spPr>
          <a:xfrm>
            <a:off x="360000" y="1440000"/>
            <a:ext cx="72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p22"/>
          <p:cNvSpPr txBox="1"/>
          <p:nvPr>
            <p:ph idx="3" type="body"/>
          </p:nvPr>
        </p:nvSpPr>
        <p:spPr>
          <a:xfrm>
            <a:off x="360000" y="1799999"/>
            <a:ext cx="72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03" name="Google Shape;103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37500" y="3935445"/>
            <a:ext cx="965200" cy="9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2"/>
          <p:cNvSpPr txBox="1"/>
          <p:nvPr>
            <p:ph idx="4" type="body"/>
          </p:nvPr>
        </p:nvSpPr>
        <p:spPr>
          <a:xfrm>
            <a:off x="2793987" y="4888595"/>
            <a:ext cx="6980036" cy="1969405"/>
          </a:xfrm>
          <a:prstGeom prst="rect">
            <a:avLst/>
          </a:prstGeom>
          <a:solidFill>
            <a:srgbClr val="CCF2FF"/>
          </a:solidFill>
          <a:ln>
            <a:noFill/>
          </a:ln>
        </p:spPr>
        <p:txBody>
          <a:bodyPr anchorCtr="0" anchor="t" bIns="317500" lIns="317500" spcFirstLastPara="1" rIns="317500" wrap="square" tIns="317500">
            <a:noAutofit/>
          </a:bodyPr>
          <a:lstStyle>
            <a:lvl1pPr indent="-228600" lvl="0" marL="45720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Arial"/>
              <a:buNone/>
              <a:defRPr b="1" i="0" sz="1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22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 Slide 4" showMasterSp="0">
  <p:cSld name="TOC Slide 4">
    <p:bg>
      <p:bgPr>
        <a:solidFill>
          <a:schemeClr val="accent4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23"/>
          <p:cNvSpPr txBox="1"/>
          <p:nvPr>
            <p:ph idx="1" type="body"/>
          </p:nvPr>
        </p:nvSpPr>
        <p:spPr>
          <a:xfrm>
            <a:off x="36000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23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3"/>
          <p:cNvSpPr txBox="1"/>
          <p:nvPr>
            <p:ph idx="2" type="body"/>
          </p:nvPr>
        </p:nvSpPr>
        <p:spPr>
          <a:xfrm>
            <a:off x="322999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09998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896997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14" name="Google Shape;1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 Slide 8" showMasterSp="0">
  <p:cSld name="TOC Slide 8">
    <p:bg>
      <p:bgPr>
        <a:solidFill>
          <a:schemeClr val="accent4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7" name="Google Shape;117;p24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24"/>
          <p:cNvSpPr txBox="1"/>
          <p:nvPr>
            <p:ph idx="1" type="body"/>
          </p:nvPr>
        </p:nvSpPr>
        <p:spPr>
          <a:xfrm>
            <a:off x="36000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24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4"/>
          <p:cNvSpPr txBox="1"/>
          <p:nvPr>
            <p:ph idx="2" type="body"/>
          </p:nvPr>
        </p:nvSpPr>
        <p:spPr>
          <a:xfrm>
            <a:off x="322999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p24"/>
          <p:cNvSpPr txBox="1"/>
          <p:nvPr>
            <p:ph idx="3" type="body"/>
          </p:nvPr>
        </p:nvSpPr>
        <p:spPr>
          <a:xfrm>
            <a:off x="609998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24"/>
          <p:cNvSpPr txBox="1"/>
          <p:nvPr>
            <p:ph idx="4" type="body"/>
          </p:nvPr>
        </p:nvSpPr>
        <p:spPr>
          <a:xfrm>
            <a:off x="896997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" name="Google Shape;123;p24"/>
          <p:cNvSpPr txBox="1"/>
          <p:nvPr>
            <p:ph idx="5" type="body"/>
          </p:nvPr>
        </p:nvSpPr>
        <p:spPr>
          <a:xfrm>
            <a:off x="36000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24"/>
          <p:cNvSpPr txBox="1"/>
          <p:nvPr>
            <p:ph idx="6" type="body"/>
          </p:nvPr>
        </p:nvSpPr>
        <p:spPr>
          <a:xfrm>
            <a:off x="322999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24"/>
          <p:cNvSpPr txBox="1"/>
          <p:nvPr>
            <p:ph idx="7" type="body"/>
          </p:nvPr>
        </p:nvSpPr>
        <p:spPr>
          <a:xfrm>
            <a:off x="609998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24"/>
          <p:cNvSpPr txBox="1"/>
          <p:nvPr>
            <p:ph idx="8" type="body"/>
          </p:nvPr>
        </p:nvSpPr>
        <p:spPr>
          <a:xfrm>
            <a:off x="896997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27" name="Google Shape;127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 Table Dark" showMasterSp="0">
  <p:cSld name="Agenda slide Table Dark">
    <p:bg>
      <p:bgPr>
        <a:solidFill>
          <a:schemeClr val="accen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59999" y="360000"/>
            <a:ext cx="90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25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 Table" showMasterSp="0">
  <p:cSld name="Agenda slide Table">
    <p:bg>
      <p:bgPr>
        <a:solidFill>
          <a:schemeClr val="accent4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59999" y="360000"/>
            <a:ext cx="90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5" name="Google Shape;135;p26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26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Statemen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27"/>
          <p:cNvSpPr txBox="1"/>
          <p:nvPr>
            <p:ph idx="1" type="body"/>
          </p:nvPr>
        </p:nvSpPr>
        <p:spPr>
          <a:xfrm>
            <a:off x="360000" y="2610760"/>
            <a:ext cx="3478685" cy="21082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2" name="Google Shape;142;p27"/>
          <p:cNvSpPr txBox="1"/>
          <p:nvPr>
            <p:ph idx="2" type="body"/>
          </p:nvPr>
        </p:nvSpPr>
        <p:spPr>
          <a:xfrm>
            <a:off x="4308328" y="2610760"/>
            <a:ext cx="3478685" cy="21082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3" name="Google Shape;143;p27"/>
          <p:cNvSpPr txBox="1"/>
          <p:nvPr>
            <p:ph idx="3" type="body"/>
          </p:nvPr>
        </p:nvSpPr>
        <p:spPr>
          <a:xfrm>
            <a:off x="8256655" y="2610760"/>
            <a:ext cx="3478685" cy="21082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logo Dark" showMasterSp="0">
  <p:cSld name="Slide with logo Dark">
    <p:bg>
      <p:bgPr>
        <a:solidFill>
          <a:schemeClr val="accent2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p28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lide with logo Teal" showMasterSp="0">
  <p:cSld name="1_Slide with logo Teal">
    <p:bg>
      <p:bgPr>
        <a:solidFill>
          <a:schemeClr val="accent4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29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 showMasterSp="0">
  <p:cSld name="Thank You Slide">
    <p:bg>
      <p:bgPr>
        <a:solidFill>
          <a:schemeClr val="accen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54" name="Google Shape;154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0348" y="393566"/>
            <a:ext cx="6557644" cy="355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0"/>
          <p:cNvSpPr txBox="1"/>
          <p:nvPr>
            <p:ph idx="1" type="body"/>
          </p:nvPr>
        </p:nvSpPr>
        <p:spPr>
          <a:xfrm>
            <a:off x="617538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p30"/>
          <p:cNvSpPr txBox="1"/>
          <p:nvPr>
            <p:ph idx="2" type="body"/>
          </p:nvPr>
        </p:nvSpPr>
        <p:spPr>
          <a:xfrm>
            <a:off x="3473690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p30"/>
          <p:cNvSpPr txBox="1"/>
          <p:nvPr>
            <p:ph idx="3" type="body"/>
          </p:nvPr>
        </p:nvSpPr>
        <p:spPr>
          <a:xfrm>
            <a:off x="6329842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8" name="Google Shape;158;p30"/>
          <p:cNvSpPr txBox="1"/>
          <p:nvPr>
            <p:ph idx="4" type="body"/>
          </p:nvPr>
        </p:nvSpPr>
        <p:spPr>
          <a:xfrm>
            <a:off x="9185994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9" name="Google Shape;159;p30"/>
          <p:cNvSpPr txBox="1"/>
          <p:nvPr>
            <p:ph idx="5" type="body"/>
          </p:nvPr>
        </p:nvSpPr>
        <p:spPr>
          <a:xfrm>
            <a:off x="617538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0" name="Google Shape;160;p30"/>
          <p:cNvSpPr txBox="1"/>
          <p:nvPr>
            <p:ph idx="6" type="body"/>
          </p:nvPr>
        </p:nvSpPr>
        <p:spPr>
          <a:xfrm>
            <a:off x="3473690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p30"/>
          <p:cNvSpPr txBox="1"/>
          <p:nvPr>
            <p:ph idx="7" type="body"/>
          </p:nvPr>
        </p:nvSpPr>
        <p:spPr>
          <a:xfrm>
            <a:off x="6329842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30"/>
          <p:cNvSpPr txBox="1"/>
          <p:nvPr>
            <p:ph idx="8" type="body"/>
          </p:nvPr>
        </p:nvSpPr>
        <p:spPr>
          <a:xfrm>
            <a:off x="9185994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63" name="Google Shape;16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9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" name="Google Shape;7;p8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8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9" name="Google Shape;9;p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897966" y="362286"/>
            <a:ext cx="833598" cy="41679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"/>
          <p:cNvSpPr txBox="1"/>
          <p:nvPr>
            <p:ph idx="1" type="body"/>
          </p:nvPr>
        </p:nvSpPr>
        <p:spPr>
          <a:xfrm>
            <a:off x="640800" y="3608250"/>
            <a:ext cx="7086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1D262B"/>
                </a:solidFill>
                <a:latin typeface="Aptos"/>
              </a:rPr>
              <a:t>Conversational child-protection reporting and casework powered by UiPath</a:t>
            </a:r>
            <a:endParaRPr b="1" sz="1900"/>
          </a:p>
        </p:txBody>
      </p:sp>
      <p:sp>
        <p:nvSpPr>
          <p:cNvPr id="169" name="Google Shape;169;p1"/>
          <p:cNvSpPr txBox="1"/>
          <p:nvPr>
            <p:ph type="title"/>
          </p:nvPr>
        </p:nvSpPr>
        <p:spPr>
          <a:xfrm>
            <a:off x="554450" y="1716975"/>
            <a:ext cx="8568000" cy="17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200" b="1">
                <a:solidFill>
                  <a:srgbClr val="FFFFFF"/>
                </a:solidFill>
                <a:latin typeface="Aptos"/>
              </a:rPr>
              <a:t>SWIMS-Connect</a:t>
            </a:r>
            <a:endParaRPr sz="5300"/>
          </a:p>
        </p:txBody>
      </p:sp>
      <p:pic>
        <p:nvPicPr>
          <p:cNvPr id="170" name="Picture 169" descr="swims-connect-convers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9001" y="1005840"/>
            <a:ext cx="2072918" cy="3794760"/>
          </a:xfrm>
          <a:prstGeom prst="rect">
            <a:avLst/>
          </a:prstGeom>
        </p:spPr>
      </p:pic>
      <p:sp>
        <p:nvSpPr>
          <p:cNvPr id="171" name="Rounded Rectangle 170"/>
          <p:cNvSpPr/>
          <p:nvPr/>
        </p:nvSpPr>
        <p:spPr>
          <a:xfrm>
            <a:off x="658368" y="4754880"/>
            <a:ext cx="5943600" cy="566928"/>
          </a:xfrm>
          <a:prstGeom prst="roundRect">
            <a:avLst/>
          </a:prstGeom>
          <a:solidFill>
            <a:srgbClr val="006D65"/>
          </a:solidFill>
          <a:ln>
            <a:solidFill>
              <a:srgbClr val="006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UNICEF StartUp Lab Challenge Winner  •  Track 1: UiPath Maestro 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24"/>
              </a:buClr>
              <a:buSzPts val="3000"/>
              <a:buFont typeface="Arial"/>
              <a:buNone/>
            </a:pPr>
            <a:r>
              <a:rPr sz="2800" b="1">
                <a:solidFill>
                  <a:srgbClr val="1D262B"/>
                </a:solidFill>
                <a:latin typeface="Aptos"/>
              </a:rPr>
              <a:t>Problem statement and proposed solution</a:t>
            </a:r>
            <a:endParaRPr>
              <a:solidFill>
                <a:srgbClr val="172024"/>
              </a:solidFill>
            </a:endParaRPr>
          </a:p>
        </p:txBody>
      </p:sp>
      <p:sp>
        <p:nvSpPr>
          <p:cNvPr id="176" name="Google Shape;176;p3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" name="Google Shape;177;p3"/>
          <p:cNvSpPr txBox="1"/>
          <p:nvPr>
            <p:ph idx="1" type="body"/>
          </p:nvPr>
        </p:nvSpPr>
        <p:spPr>
          <a:xfrm>
            <a:off x="36000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sz="2000" b="1">
                <a:solidFill>
                  <a:srgbClr val="1D262B"/>
                </a:solidFill>
                <a:latin typeface="Aptos"/>
              </a:rPr>
              <a:t>Problem</a:t>
            </a:r>
            <a:endParaRPr/>
          </a:p>
        </p:txBody>
      </p:sp>
      <p:sp>
        <p:nvSpPr>
          <p:cNvPr id="178" name="Google Shape;178;p3"/>
          <p:cNvSpPr txBox="1"/>
          <p:nvPr>
            <p:ph idx="2" type="body"/>
          </p:nvPr>
        </p:nvSpPr>
        <p:spPr>
          <a:xfrm>
            <a:off x="36000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9728" spcFirstLastPara="1" rIns="45720" wrap="square" tIns="0">
            <a:noAutofit/>
          </a:bodyPr>
          <a:lstStyle/>
          <a:p>
            <a:pPr indent="0" marL="457200" rtl="0" algn="l">
              <a:lnSpc>
                <a:spcPct val="105000"/>
              </a:lnSpc>
              <a:spcBef>
                <a:spcPts val="500"/>
              </a:spcBef>
              <a:spcAft>
                <a:spcPts val="800"/>
              </a:spcAft>
              <a:buNone/>
            </a:pPr>
            <a:r>
              <a:rPr sz="1550">
                <a:solidFill>
                  <a:srgbClr val="1D262B"/>
                </a:solidFill>
                <a:latin typeface="Aptos"/>
              </a:rPr>
              <a:t>•  Child-protection concerns can be delayed by unfamiliar or inaccessible reporting channels.</a:t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algn="l">
              <a:lnSpc>
                <a:spcPct val="105000"/>
              </a:lnSpc>
              <a:spcAft>
                <a:spcPts val="800"/>
              </a:spcAft>
              <a:buNone/>
            </a:pPr>
            <a:r>
              <a:rPr sz="1550">
                <a:solidFill>
                  <a:srgbClr val="1D262B"/>
                </a:solidFill>
                <a:latin typeface="Aptos"/>
              </a:rPr>
              <a:t>•  Frontline workers face repeated data entry, fragmented referral information and heavy caseloads.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  <a:buNone/>
            </a:pPr>
            <a:r>
              <a:rPr sz="1550">
                <a:solidFill>
                  <a:srgbClr val="1D262B"/>
                </a:solidFill>
                <a:latin typeface="Aptos"/>
              </a:rPr>
              <a:t>•  Missed assessments, referrals and follow-ups can delay support for children and families.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  <a:buNone/>
            </a:pPr>
            <a:r>
              <a:rPr sz="1550">
                <a:solidFill>
                  <a:srgbClr val="1D262B"/>
                </a:solidFill>
                <a:latin typeface="Aptos"/>
              </a:rPr>
              <a:t>•  Sensitive case information should not be copied into general-purpose AI tools.</a:t>
            </a:r>
          </a:p>
        </p:txBody>
      </p:sp>
      <p:sp>
        <p:nvSpPr>
          <p:cNvPr id="179" name="Google Shape;179;p3"/>
          <p:cNvSpPr txBox="1"/>
          <p:nvPr>
            <p:ph idx="3" type="body"/>
          </p:nvPr>
        </p:nvSpPr>
        <p:spPr>
          <a:xfrm>
            <a:off x="608965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sz="2000" b="1">
                <a:solidFill>
                  <a:srgbClr val="1D262B"/>
                </a:solidFill>
                <a:latin typeface="Aptos"/>
              </a:rPr>
              <a:t>Solution</a:t>
            </a:r>
            <a:endParaRPr/>
          </a:p>
        </p:txBody>
      </p:sp>
      <p:sp>
        <p:nvSpPr>
          <p:cNvPr id="180" name="Google Shape;180;p3"/>
          <p:cNvSpPr txBox="1"/>
          <p:nvPr>
            <p:ph idx="4" type="body"/>
          </p:nvPr>
        </p:nvSpPr>
        <p:spPr>
          <a:xfrm>
            <a:off x="6089650" y="1800000"/>
            <a:ext cx="58041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9728" spcFirstLastPara="1" rIns="45720" wrap="square" tIns="0">
            <a:noAutofit/>
          </a:bodyPr>
          <a:lstStyle/>
          <a:p>
            <a:pPr indent="0" marL="0" rtl="0" algn="l">
              <a:lnSpc>
                <a:spcPct val="10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sz="1550">
                <a:solidFill>
                  <a:srgbClr val="1D262B"/>
                </a:solidFill>
                <a:latin typeface="Aptos"/>
              </a:rPr>
              <a:t>•  Anonymous WhatsApp reporting through text, voice or images, creating a real Primero/SWIMS Case ID.</a:t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algn="l">
              <a:lnSpc>
                <a:spcPct val="105000"/>
              </a:lnSpc>
              <a:spcAft>
                <a:spcPts val="800"/>
              </a:spcAft>
              <a:buNone/>
            </a:pPr>
            <a:r>
              <a:rPr sz="1550">
                <a:solidFill>
                  <a:srgbClr val="1D262B"/>
                </a:solidFill>
                <a:latin typeface="Aptos"/>
              </a:rPr>
              <a:t>•  Secure worker login with role-scoped case access, reports and casework assistance.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  <a:buNone/>
            </a:pPr>
            <a:r>
              <a:rPr sz="1550">
                <a:solidFill>
                  <a:srgbClr val="1D262B"/>
                </a:solidFill>
                <a:latin typeface="Aptos"/>
              </a:rPr>
              <a:t>•  Assessment, case-plan and referral drafts require explicit worker approval before saving.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  <a:buNone/>
            </a:pPr>
            <a:r>
              <a:rPr sz="1550">
                <a:solidFill>
                  <a:srgbClr val="1D262B"/>
                </a:solidFill>
                <a:latin typeface="Aptos"/>
              </a:rPr>
              <a:t>•  UiPath Maestro provides persistent deadline monitoring, verified against live Primero data.</a:t>
            </a:r>
          </a:p>
        </p:txBody>
      </p:sp>
      <p:sp>
        <p:nvSpPr>
          <p:cNvPr id="181" name="Google Shape;181;p3"/>
          <p:cNvSpPr txBox="1"/>
          <p:nvPr/>
        </p:nvSpPr>
        <p:spPr>
          <a:xfrm>
            <a:off x="0" y="2721889"/>
            <a:ext cx="121794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"/>
          <p:cNvSpPr txBox="1"/>
          <p:nvPr/>
        </p:nvSpPr>
        <p:spPr>
          <a:xfrm>
            <a:off x="259203" y="360000"/>
            <a:ext cx="9000000" cy="499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sz="2800" b="1">
                <a:solidFill>
                  <a:srgbClr val="1D262B"/>
                </a:solidFill>
                <a:latin typeface="Aptos"/>
              </a:rPr>
              <a:t>Benefits and technologies used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88" name="Google Shape;188;p4"/>
          <p:cNvGraphicFramePr/>
          <p:nvPr/>
        </p:nvGraphicFramePr>
        <p:xfrm>
          <a:off x="347472" y="1234440"/>
          <a:ext cx="5486400" cy="4663440"/>
        </p:xfrm>
        <a:graphic>
          <a:graphicData uri="http://schemas.openxmlformats.org/drawingml/2006/table">
            <a:tbl>
              <a:tblPr>
                <a:noFill/>
                <a:tableStyleId>{983514CA-5337-4821-8FA7-13685EB0E8FF}</a:tableStyleId>
              </a:tblPr>
              <a:tblGrid>
                <a:gridCol w="2286000"/>
                <a:gridCol w="3200400"/>
              </a:tblGrid>
              <a:tr h="11148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End users</a:t>
                      </a:r>
                    </a:p>
                  </a:txBody>
                  <a:tcPr marT="45720" marB="36576" marR="54864" marL="73152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A0A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D262B"/>
                          </a:solidFill>
                          <a:latin typeface="Aptos"/>
                        </a:rPr>
                        <a:t>Community reporters, social workers, supervisors</a:t>
                      </a:r>
                    </a:p>
                  </a:txBody>
                  <a:tcPr marT="45720" marB="36576" marR="54864" marL="73152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A0AE"/>
                    </a:solidFill>
                  </a:tcPr>
                </a:tc>
              </a:tr>
              <a:tr h="99752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User departments</a:t>
                      </a:r>
                    </a:p>
                  </a:txBody>
                  <a:tcPr marT="45720" marB="36576" marR="54864" marL="73152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A0A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D262B"/>
                          </a:solidFill>
                          <a:latin typeface="Aptos"/>
                        </a:rPr>
                        <a:t>Government social welfare and child-protection agencies</a:t>
                      </a:r>
                    </a:p>
                  </a:txBody>
                  <a:tcPr marT="45720" marB="36576" marR="54864" marL="73152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A0AE"/>
                    </a:solidFill>
                  </a:tcPr>
                </a:tc>
              </a:tr>
              <a:tr h="99752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Industries</a:t>
                      </a:r>
                    </a:p>
                  </a:txBody>
                  <a:tcPr marT="45720" marB="36576" marR="54864" marL="73152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A0A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D262B"/>
                          </a:solidFill>
                          <a:latin typeface="Aptos"/>
                        </a:rPr>
                        <a:t>Government, social services, humanitarian protection</a:t>
                      </a:r>
                    </a:p>
                  </a:txBody>
                  <a:tcPr marT="45720" marB="36576" marR="54864" marL="73152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A0AE"/>
                    </a:solidFill>
                  </a:tcPr>
                </a:tc>
              </a:tr>
              <a:tr h="99752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UiPath products used</a:t>
                      </a:r>
                    </a:p>
                  </a:txBody>
                  <a:tcPr marT="45720" marB="36576" marR="54864" marL="73152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A0A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D262B"/>
                          </a:solidFill>
                          <a:latin typeface="Aptos"/>
                        </a:rPr>
                        <a:t>Automation Cloud, Coded Agents, Orchestrator, Maestro Case, TypeScript SDK</a:t>
                      </a:r>
                    </a:p>
                  </a:txBody>
                  <a:tcPr marT="45720" marB="36576" marR="54864" marL="73152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A0AE"/>
                    </a:solidFill>
                  </a:tcPr>
                </a:tc>
              </a:tr>
              <a:tr h="11375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Other integrations / APIs / technologies</a:t>
                      </a:r>
                    </a:p>
                  </a:txBody>
                  <a:tcPr marT="45720" marB="36576" marR="54864" marL="73152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A0A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D262B"/>
                          </a:solidFill>
                          <a:latin typeface="Aptos"/>
                        </a:rPr>
                        <a:t>Python, LangGraph, Gemini, Node.js, WhatsApp, Primero REST API</a:t>
                      </a:r>
                    </a:p>
                  </a:txBody>
                  <a:tcPr marT="45720" marB="36576" marR="54864" marL="73152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A0AE"/>
                    </a:solidFill>
                  </a:tcPr>
                </a:tc>
              </a:tr>
            </a:tbl>
          </a:graphicData>
        </a:graphic>
      </p:graphicFrame>
      <p:sp>
        <p:nvSpPr>
          <p:cNvPr id="189" name="Google Shape;189;p4"/>
          <p:cNvSpPr/>
          <p:nvPr/>
        </p:nvSpPr>
        <p:spPr>
          <a:xfrm>
            <a:off x="359999" y="859929"/>
            <a:ext cx="10398312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6080760" y="1143000"/>
            <a:ext cx="502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sz="1900" b="1">
                <a:solidFill>
                  <a:srgbClr val="1D262B"/>
                </a:solidFill>
                <a:latin typeface="Aptos"/>
              </a:rPr>
              <a:t>Benefits, impact and outcomes</a:t>
            </a:r>
            <a:endParaRPr sz="1500"/>
          </a:p>
        </p:txBody>
      </p:sp>
      <p:sp>
        <p:nvSpPr>
          <p:cNvPr id="191" name="Google Shape;191;p4"/>
          <p:cNvSpPr txBox="1"/>
          <p:nvPr/>
        </p:nvSpPr>
        <p:spPr>
          <a:xfrm>
            <a:off x="6080760" y="1600200"/>
            <a:ext cx="502920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9728" spcFirstLastPara="1" rIns="45720" wrap="square" tIns="45700">
            <a:noAutofit/>
          </a:bodyPr>
          <a:lstStyle/>
          <a:p>
            <a:pPr indent="-342900" marL="457200" rtl="0" algn="l">
              <a:lnSpc>
                <a:spcPct val="105000"/>
              </a:lnSpc>
              <a:spcBef>
                <a:spcPts val="1200"/>
              </a:spcBef>
              <a:spcAft>
                <a:spcPts val="1000"/>
              </a:spcAft>
              <a:buClr>
                <a:srgbClr val="1D1D1F"/>
              </a:buClr>
              <a:buSzPts val="1800"/>
              <a:buNone/>
            </a:pPr>
            <a:r>
              <a:rPr sz="1500">
                <a:solidFill>
                  <a:srgbClr val="1D262B"/>
                </a:solidFill>
                <a:latin typeface="Aptos"/>
              </a:rPr>
              <a:t>•  Familiar community access through WhatsApp, with anonymous reporting and consent controls.</a:t>
            </a:r>
            <a:endParaRPr sz="1800"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algn="l">
              <a:lnSpc>
                <a:spcPct val="105000"/>
              </a:lnSpc>
              <a:spcAft>
                <a:spcPts val="1000"/>
              </a:spcAft>
              <a:buNone/>
            </a:pPr>
            <a:r>
              <a:rPr sz="1500">
                <a:solidFill>
                  <a:srgbClr val="1D262B"/>
                </a:solidFill>
                <a:latin typeface="Aptos"/>
              </a:rPr>
              <a:t>•  Less repetitive administration through structured intake, summaries, drafts and scheduled reports.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  <a:buNone/>
            </a:pPr>
            <a:r>
              <a:rPr sz="1500">
                <a:solidFill>
                  <a:srgbClr val="1D262B"/>
                </a:solidFill>
                <a:latin typeface="Aptos"/>
              </a:rPr>
              <a:t>•  Casework assistance without moving sensitive child information into an external AI chat.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  <a:buNone/>
            </a:pPr>
            <a:r>
              <a:rPr sz="1500">
                <a:solidFill>
                  <a:srgbClr val="1D262B"/>
                </a:solidFill>
                <a:latin typeface="Aptos"/>
              </a:rPr>
              <a:t>•  Proactive monitoring of assessments, plans, referrals, follow-ups and closure reviews.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  <a:buNone/>
            </a:pPr>
            <a:r>
              <a:rPr sz="1500">
                <a:solidFill>
                  <a:srgbClr val="1D262B"/>
                </a:solidFill>
                <a:latin typeface="Aptos"/>
              </a:rPr>
              <a:t>•  Configurable for Primero programmes across more than 80 countries and territories.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359999" y="859929"/>
            <a:ext cx="10398312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sz="2800" b="1">
                <a:solidFill>
                  <a:srgbClr val="1D262B"/>
                </a:solidFill>
                <a:latin typeface="Aptos"/>
              </a:rPr>
              <a:t>Solution architecture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Rounded Rectangle 198"/>
          <p:cNvSpPr/>
          <p:nvPr/>
        </p:nvSpPr>
        <p:spPr>
          <a:xfrm>
            <a:off x="411480" y="1874519"/>
            <a:ext cx="2240280" cy="1143000"/>
          </a:xfrm>
          <a:prstGeom prst="roundRect">
            <a:avLst/>
          </a:prstGeom>
          <a:solidFill>
            <a:srgbClr val="E0F6F6"/>
          </a:solidFill>
          <a:ln w="19050">
            <a:solidFill>
              <a:srgbClr val="0DA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600" b="1">
                <a:solidFill>
                  <a:srgbClr val="1D262B"/>
                </a:solidFill>
                <a:latin typeface="Aptos"/>
              </a:rPr>
              <a:t>Community &amp; workers</a:t>
            </a:r>
          </a:p>
          <a:p>
            <a:pPr algn="ctr">
              <a:spcBef>
                <a:spcPts val="300"/>
              </a:spcBef>
            </a:pPr>
            <a:r>
              <a:rPr sz="950">
                <a:solidFill>
                  <a:srgbClr val="4B5B63"/>
                </a:solidFill>
                <a:latin typeface="Aptos"/>
              </a:rPr>
              <a:t>WhatsApp text • voice • images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2926080" y="1874519"/>
            <a:ext cx="2240280" cy="1143000"/>
          </a:xfrm>
          <a:prstGeom prst="roundRect">
            <a:avLst/>
          </a:prstGeom>
          <a:solidFill>
            <a:srgbClr val="E0F6F6"/>
          </a:solidFill>
          <a:ln w="19050">
            <a:solidFill>
              <a:srgbClr val="0DA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600" b="1">
                <a:solidFill>
                  <a:srgbClr val="1D262B"/>
                </a:solidFill>
                <a:latin typeface="Aptos"/>
              </a:rPr>
              <a:t>WhatsApp gateway</a:t>
            </a:r>
          </a:p>
          <a:p>
            <a:pPr algn="ctr">
              <a:spcBef>
                <a:spcPts val="300"/>
              </a:spcBef>
            </a:pPr>
            <a:r>
              <a:rPr sz="950">
                <a:solidFill>
                  <a:srgbClr val="4B5B63"/>
                </a:solidFill>
                <a:latin typeface="Aptos"/>
              </a:rPr>
              <a:t>Consent • login • media • secure context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5486400" y="1874519"/>
            <a:ext cx="2240280" cy="1143000"/>
          </a:xfrm>
          <a:prstGeom prst="roundRect">
            <a:avLst/>
          </a:prstGeom>
          <a:solidFill>
            <a:srgbClr val="DEF1FF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600" b="1">
                <a:solidFill>
                  <a:srgbClr val="1D262B"/>
                </a:solidFill>
                <a:latin typeface="Aptos"/>
              </a:rPr>
              <a:t>UiPath coded agent</a:t>
            </a:r>
          </a:p>
          <a:p>
            <a:pPr algn="ctr">
              <a:spcBef>
                <a:spcPts val="300"/>
              </a:spcBef>
            </a:pPr>
            <a:r>
              <a:rPr sz="950">
                <a:solidFill>
                  <a:srgbClr val="4B5B63"/>
                </a:solidFill>
                <a:latin typeface="Aptos"/>
              </a:rPr>
              <a:t>Python • LangGraph • Gemini • typed tools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8092440" y="1874519"/>
            <a:ext cx="2240280" cy="1143000"/>
          </a:xfrm>
          <a:prstGeom prst="roundRect">
            <a:avLst/>
          </a:prstGeom>
          <a:solidFill>
            <a:srgbClr val="EBF7EE"/>
          </a:solidFill>
          <a:ln w="19050">
            <a:solidFill>
              <a:srgbClr val="19A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600" b="1">
                <a:solidFill>
                  <a:srgbClr val="1D262B"/>
                </a:solidFill>
                <a:latin typeface="Aptos"/>
              </a:rPr>
              <a:t>Primero / SWIMS</a:t>
            </a:r>
          </a:p>
          <a:p>
            <a:pPr algn="ctr">
              <a:spcBef>
                <a:spcPts val="300"/>
              </a:spcBef>
            </a:pPr>
            <a:r>
              <a:rPr sz="950">
                <a:solidFill>
                  <a:srgbClr val="4B5B63"/>
                </a:solidFill>
                <a:latin typeface="Aptos"/>
              </a:rPr>
              <a:t>System of record • roles • workflow • audit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2651760" y="2446019"/>
            <a:ext cx="274320" cy="0"/>
          </a:xfrm>
          <a:prstGeom prst="line">
            <a:avLst/>
          </a:prstGeom>
          <a:ln w="25400">
            <a:solidFill>
              <a:srgbClr val="0DA0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5166360" y="2446019"/>
            <a:ext cx="320040" cy="0"/>
          </a:xfrm>
          <a:prstGeom prst="line">
            <a:avLst/>
          </a:prstGeom>
          <a:ln w="25400">
            <a:solidFill>
              <a:srgbClr val="0DA0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7726680" y="2446019"/>
            <a:ext cx="365760" cy="0"/>
          </a:xfrm>
          <a:prstGeom prst="line">
            <a:avLst/>
          </a:prstGeom>
          <a:ln w="25400">
            <a:solidFill>
              <a:srgbClr val="0DA0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Rounded Rectangle 205"/>
          <p:cNvSpPr/>
          <p:nvPr/>
        </p:nvSpPr>
        <p:spPr>
          <a:xfrm>
            <a:off x="2926080" y="3931920"/>
            <a:ext cx="3337560" cy="1051560"/>
          </a:xfrm>
          <a:prstGeom prst="roundRect">
            <a:avLst/>
          </a:prstGeom>
          <a:solidFill>
            <a:srgbClr val="F5F0FF"/>
          </a:solidFill>
          <a:ln w="19050">
            <a:solidFill>
              <a:srgbClr val="6E4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600" b="1">
                <a:solidFill>
                  <a:srgbClr val="1D262B"/>
                </a:solidFill>
                <a:latin typeface="Aptos"/>
              </a:rPr>
              <a:t>UiPath Orchestrator</a:t>
            </a:r>
          </a:p>
          <a:p>
            <a:pPr algn="ctr">
              <a:spcBef>
                <a:spcPts val="300"/>
              </a:spcBef>
            </a:pPr>
            <a:r>
              <a:rPr sz="950">
                <a:solidFill>
                  <a:srgbClr val="4B5B63"/>
                </a:solidFill>
                <a:latin typeface="Aptos"/>
              </a:rPr>
              <a:t>Packages • assets • secrets • jobs • traces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6537960" y="3931920"/>
            <a:ext cx="3429000" cy="1051560"/>
          </a:xfrm>
          <a:prstGeom prst="roundRect">
            <a:avLst/>
          </a:prstGeom>
          <a:solidFill>
            <a:srgbClr val="FFF0E5"/>
          </a:solidFill>
          <a:ln w="19050">
            <a:solidFill>
              <a:srgbClr val="FA46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600" b="1">
                <a:solidFill>
                  <a:srgbClr val="1D262B"/>
                </a:solidFill>
                <a:latin typeface="Aptos"/>
              </a:rPr>
              <a:t>UiPath Maestro Case</a:t>
            </a:r>
          </a:p>
          <a:p>
            <a:pPr algn="ctr">
              <a:spcBef>
                <a:spcPts val="300"/>
              </a:spcBef>
            </a:pPr>
            <a:r>
              <a:rPr sz="950">
                <a:solidFill>
                  <a:srgbClr val="4B5B63"/>
                </a:solidFill>
                <a:latin typeface="Aptos"/>
              </a:rPr>
              <a:t>Persistent SLA clocks • verified overdue reminders</a:t>
            </a:r>
          </a:p>
        </p:txBody>
      </p:sp>
      <p:cxnSp>
        <p:nvCxnSpPr>
          <p:cNvPr id="208" name="Connector 207"/>
          <p:cNvCxnSpPr/>
          <p:nvPr/>
        </p:nvCxnSpPr>
        <p:spPr>
          <a:xfrm flipH="1">
            <a:off x="4594860" y="3017519"/>
            <a:ext cx="2011680" cy="914401"/>
          </a:xfrm>
          <a:prstGeom prst="line">
            <a:avLst/>
          </a:prstGeom>
          <a:ln w="25400">
            <a:solidFill>
              <a:srgbClr val="6E45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H="1">
            <a:off x="8252460" y="3017519"/>
            <a:ext cx="960120" cy="914401"/>
          </a:xfrm>
          <a:prstGeom prst="line">
            <a:avLst/>
          </a:prstGeom>
          <a:ln w="25400">
            <a:solidFill>
              <a:srgbClr val="FA4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H="1">
            <a:off x="6263640" y="4457700"/>
            <a:ext cx="274320" cy="0"/>
          </a:xfrm>
          <a:prstGeom prst="line">
            <a:avLst/>
          </a:prstGeom>
          <a:ln w="25400">
            <a:solidFill>
              <a:srgbClr val="FA4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TextBox 210"/>
          <p:cNvSpPr txBox="1"/>
          <p:nvPr/>
        </p:nvSpPr>
        <p:spPr>
          <a:xfrm>
            <a:off x="457200" y="5532120"/>
            <a:ext cx="10607040" cy="34747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1">
                <a:solidFill>
                  <a:srgbClr val="006D65"/>
                </a:solidFill>
                <a:latin typeface="Aptos"/>
              </a:rPr>
              <a:t>github.com/zachryit/swims-connect-uipath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5852160" cy="2011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5800" b="1">
                <a:solidFill>
                  <a:srgbClr val="FA4616"/>
                </a:solidFill>
                <a:latin typeface="Aptos"/>
              </a:rPr>
              <a:t>THANK</a:t>
            </a:r>
            <a:br/>
            <a:r>
              <a:rPr sz="5800" b="1">
                <a:solidFill>
                  <a:srgbClr val="FA4616"/>
                </a:solidFill>
                <a:latin typeface="Aptos"/>
              </a:rPr>
              <a:t>YOU.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154680"/>
            <a:ext cx="548640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Helping every child-protection concern reach the people who can 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343400"/>
            <a:ext cx="585216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WhatsApp  +233 54 159 9802</a:t>
            </a:r>
            <a:br/>
            <a:r>
              <a:rPr sz="1400" b="0">
                <a:solidFill>
                  <a:srgbClr val="FFFFFF"/>
                </a:solidFill>
                <a:latin typeface="Aptos"/>
              </a:rPr>
              <a:t>GitHub  github.com/zachryit/swims-connect-uipath</a:t>
            </a:r>
          </a:p>
        </p:txBody>
      </p:sp>
      <p:pic>
        <p:nvPicPr>
          <p:cNvPr id="5" name="Picture 4" descr="swims-connect-convers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317224"/>
            <a:ext cx="2057400" cy="3766351"/>
          </a:xfrm>
          <a:prstGeom prst="rect">
            <a:avLst/>
          </a:prstGeom>
        </p:spPr>
      </p:pic>
      <p:pic>
        <p:nvPicPr>
          <p:cNvPr id="6" name="Picture 5" descr="swims-connect-worker-convers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1317224"/>
            <a:ext cx="2057400" cy="37663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imary Presentation Layouts">
  <a:themeElements>
    <a:clrScheme name="UiPath colors">
      <a:dk1>
        <a:srgbClr val="172024"/>
      </a:dk1>
      <a:lt1>
        <a:srgbClr val="FFFFFF"/>
      </a:lt1>
      <a:dk2>
        <a:srgbClr val="9D9D9D"/>
      </a:dk2>
      <a:lt2>
        <a:srgbClr val="F6F6F6"/>
      </a:lt2>
      <a:accent1>
        <a:srgbClr val="FA4616"/>
      </a:accent1>
      <a:accent2>
        <a:srgbClr val="1E6482"/>
      </a:accent2>
      <a:accent3>
        <a:srgbClr val="A32200"/>
      </a:accent3>
      <a:accent4>
        <a:srgbClr val="0BA2B3"/>
      </a:accent4>
      <a:accent5>
        <a:srgbClr val="8B288A"/>
      </a:accent5>
      <a:accent6>
        <a:srgbClr val="FA7678"/>
      </a:accent6>
      <a:hlink>
        <a:srgbClr val="5BCBDE"/>
      </a:hlink>
      <a:folHlink>
        <a:srgbClr val="5BCBD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imary Presentation Layouts">
  <a:themeElements>
    <a:clrScheme name="Primary Presentation Layouts">
      <a:dk1>
        <a:srgbClr val="000000"/>
      </a:dk1>
      <a:lt1>
        <a:srgbClr val="FFFFFF"/>
      </a:lt1>
      <a:dk2>
        <a:srgbClr val="9D9D9D"/>
      </a:dk2>
      <a:lt2>
        <a:srgbClr val="A32200"/>
      </a:lt2>
      <a:accent1>
        <a:srgbClr val="FCC0C5"/>
      </a:accent1>
      <a:accent2>
        <a:srgbClr val="5BCBDE"/>
      </a:accent2>
      <a:accent3>
        <a:srgbClr val="F6F6F6"/>
      </a:accent3>
      <a:accent4>
        <a:srgbClr val="434648"/>
      </a:accent4>
      <a:accent5>
        <a:srgbClr val="FFCBFF"/>
      </a:accent5>
      <a:accent6>
        <a:srgbClr val="1168CD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2025-06-06T15:41:05Z</dcterms:created>
  <dc:creator>SWIMS-Connect</dc:creator>
  <dc:title>SWIMS-Connect — UiPath AgentHack 2026</dc:title>
  <dc:subject>Conversational child-protection reporting and casework</dc:subject>
  <cp:keywords>UiPath, Maestro Case, Primero, child protection, WhatsApp</cp:keyword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0x0101006586BB0CA657274B8C976C7E0436D499</vt:lpwstr>
  </property>
  <property fmtid="{D5CDD505-2E9C-101B-9397-08002B2CF9AE}" pid="3" name="MediaServiceImageTags">
    <vt:lpwstr/>
  </property>
</Properties>
</file>